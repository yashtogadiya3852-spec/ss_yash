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  <p:sldId id="258" r:id="rId6"/>
    <p:sldId id="259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5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version of the lecture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74520" y="839169"/>
            <a:ext cx="62179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1">
                <a:solidFill>
                  <a:srgbClr val="25CFDC"/>
                </a:solidFill>
                <a:latin typeface="Aptos"/>
              </a:defRPr>
            </a:pPr>
            <a:r>
              <a:t>SIGNALS AND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675120" cy="11430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t>FOURIER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492240" cy="594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400" b="1">
                <a:solidFill>
                  <a:srgbClr val="25CFDC"/>
                </a:solidFill>
                <a:latin typeface="Aptos"/>
              </a:defRPr>
            </a:pPr>
            <a:r>
              <a:t>Applications in Signal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5943600" cy="56938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B1C2D5"/>
                </a:solidFill>
                <a:latin typeface="Aptos"/>
              </a:defRPr>
            </a:pPr>
            <a:r>
              <a:t>Communication • </a:t>
            </a:r>
            <a:r>
              <a:t>Audio </a:t>
            </a:r>
            <a:r>
              <a:rPr lang="en-US" dirty="0" smtClean="0"/>
              <a:t>Processing</a:t>
            </a:r>
            <a:r>
              <a:rPr smtClean="0"/>
              <a:t>• Images</a:t>
            </a:r>
            <a:r>
              <a:rPr lang="en-US" dirty="0" smtClean="0"/>
              <a:t> </a:t>
            </a:r>
            <a:r>
              <a:rPr lang="en-US" dirty="0" smtClean="0"/>
              <a:t>Processing </a:t>
            </a:r>
            <a:endParaRPr lang="en-US" dirty="0" smtClean="0"/>
          </a:p>
          <a:p>
            <a:pPr>
              <a:defRPr sz="1700" b="0">
                <a:solidFill>
                  <a:srgbClr val="B1C2D5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smtClean="0"/>
              <a:t>Filtering </a:t>
            </a:r>
            <a:r>
              <a:t>• Spectrum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7109460" cy="2923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 lang="en-US" sz="1600" b="1" dirty="0" smtClean="0"/>
              <a:t>TIRTH SHAH</a:t>
            </a:r>
            <a:endParaRPr lang="en-US" sz="1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6583680" cy="26161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B1C2D5"/>
                </a:solidFill>
                <a:latin typeface="Aptos"/>
              </a:defRPr>
            </a:pPr>
            <a:r>
              <a:rPr sz="1400" b="1"/>
              <a:t>Enrolment</a:t>
            </a:r>
            <a:r>
              <a:rPr sz="1400" b="1"/>
              <a:t>: </a:t>
            </a:r>
            <a:r>
              <a:rPr sz="1400" b="1" smtClean="0"/>
              <a:t>12502060601060</a:t>
            </a:r>
            <a:endParaRPr sz="1400" b="1"/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6766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Electronics &amp; Communication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6766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B1C2D5"/>
                </a:solidFill>
                <a:latin typeface="Aptos"/>
              </a:defRPr>
            </a:pPr>
            <a:r>
              <a:t>A.D. Patel Institute of Technology, CVM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6766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B1C2D5"/>
                </a:solidFill>
                <a:latin typeface="Aptos"/>
              </a:defRPr>
            </a:pPr>
            <a:r>
              <a:t>Faculty: Dr. Hitesh Shah  •  22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051560"/>
            <a:ext cx="34747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300" b="1">
                <a:solidFill>
                  <a:srgbClr val="25CFDC"/>
                </a:solidFill>
                <a:latin typeface="Aptos"/>
              </a:defRPr>
            </a:pPr>
            <a:r>
              <a:t>TIME DOMAIN → FREQUENCY DOMAIN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2057400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86700" y="2209874"/>
            <a:ext cx="36575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80" y="2334588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23860" y="2408835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2419096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61020" y="236350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2252179"/>
            <a:ext cx="36575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98180" y="210539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66760" y="194986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35340" y="1813920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03920" y="172230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72500" y="1691696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41080" y="172767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09660" y="182368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78240" y="196224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46820" y="2118131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15400" y="2262961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83980" y="237036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52560" y="2420786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21140" y="240504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89720" y="232601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58300" y="219807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326880" y="2044519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395460" y="189331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464040" y="1771979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32620" y="170261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01200" y="169784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69780" y="1758535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38360" y="187364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06940" y="2022206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75520" y="217717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944100" y="2310340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12680" y="2397451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81260" y="2422649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149840" y="238134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218420" y="228106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287000" y="2140059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355580" y="198400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424160" y="184131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492740" y="173796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61320" y="169277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629900" y="1713970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698480" y="1797695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767060" y="192870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835640" y="2083144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904220" y="223289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972800" y="235069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041380" y="2415097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109960" y="2414372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178540" y="2348653"/>
            <a:ext cx="36576" cy="36576"/>
          </a:xfrm>
          <a:prstGeom prst="line">
            <a:avLst/>
          </a:prstGeom>
          <a:ln w="127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886700" y="2116657"/>
            <a:ext cx="3474720" cy="35242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x(t)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863840" y="3154680"/>
            <a:ext cx="3474720" cy="0"/>
          </a:xfrm>
          <a:prstGeom prst="line">
            <a:avLst/>
          </a:prstGeom>
          <a:ln w="12700">
            <a:solidFill>
              <a:srgbClr val="B1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321040" y="2697480"/>
            <a:ext cx="0" cy="45720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961120" y="2240280"/>
            <a:ext cx="0" cy="91440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601200" y="2560320"/>
            <a:ext cx="0" cy="59436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241280" y="2834640"/>
            <a:ext cx="0" cy="32004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881360" y="2971800"/>
            <a:ext cx="0" cy="18288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13675" y="4659630"/>
            <a:ext cx="34747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0">
                <a:solidFill>
                  <a:srgbClr val="F5F8FC"/>
                </a:solidFill>
                <a:latin typeface="Aptos"/>
              </a:defRPr>
            </a:pPr>
            <a:r>
              <a:t>X(ω): magnitude + phase</a:t>
            </a:r>
          </a:p>
        </p:txBody>
      </p:sp>
      <p:pic>
        <p:nvPicPr>
          <p:cNvPr id="10242" name="Picture 2" descr="SEMCOM"/>
          <p:cNvPicPr>
            <a:picLocks noChangeAspect="1" noChangeArrowheads="1"/>
          </p:cNvPicPr>
          <p:nvPr/>
        </p:nvPicPr>
        <p:blipFill>
          <a:blip r:embed="rId1"/>
          <a:srcRect l="20849" t="14870" r="20506" b="15581"/>
          <a:stretch>
            <a:fillRect/>
          </a:stretch>
        </p:blipFill>
        <p:spPr bwMode="auto">
          <a:xfrm>
            <a:off x="0" y="73152"/>
            <a:ext cx="782160" cy="839169"/>
          </a:xfrm>
          <a:prstGeom prst="rect">
            <a:avLst/>
          </a:prstGeom>
          <a:noFill/>
        </p:spPr>
      </p:pic>
      <p:pic>
        <p:nvPicPr>
          <p:cNvPr id="10244" name="Picture 4" descr="A D PATEL INSTITUTE OF TECHNOLOGY (ADIT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61420" y="75598"/>
            <a:ext cx="822007" cy="7635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46304"/>
            <a:ext cx="11460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5F06A"/>
                </a:solidFill>
                <a:uFill>
                  <a:solidFill>
                    <a:srgbClr val="F5F06A"/>
                  </a:solidFill>
                </a:u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to Fourier Transform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0" y="914400"/>
            <a:ext cx="0" cy="5669280"/>
          </a:xfrm>
          <a:prstGeom prst="line">
            <a:avLst/>
          </a:prstGeom>
          <a:noFill/>
          <a:ln w="12700">
            <a:solidFill>
              <a:srgbClr val="6A7F85"/>
            </a:solidFill>
            <a:prstDash val="sysDot"/>
          </a:ln>
        </p:spPr>
      </p:sp>
      <p:sp>
        <p:nvSpPr>
          <p:cNvPr id="4" name="Text 2"/>
          <p:cNvSpPr txBox="1"/>
          <p:nvPr/>
        </p:nvSpPr>
        <p:spPr>
          <a:xfrm>
            <a:off x="426720" y="9144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65" dirty="0">
                <a:solidFill>
                  <a:srgbClr val="B7D8C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&gt;&gt; </a:t>
            </a:r>
            <a:r>
              <a:rPr lang="en-US" sz="186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Fourier Transform is a mathematical tool used for </a:t>
            </a:r>
            <a:r>
              <a:rPr lang="en-US" sz="1865" u="sng" dirty="0">
                <a:solidFill>
                  <a:srgbClr val="F2F2F2"/>
                </a:solidFill>
                <a:uFill>
                  <a:solidFill>
                    <a:srgbClr val="F2F2F2"/>
                  </a:solidFill>
                </a:u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frequency analysis of signals</a:t>
            </a:r>
            <a:endParaRPr lang="en-US" sz="1865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828800"/>
            <a:ext cx="524256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i="1" dirty="0">
                <a:solidFill>
                  <a:srgbClr val="B7D8C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LT → Math. tool → analysis of systems &amp; ckts</a:t>
            </a:r>
            <a:endParaRPr lang="en-US" sz="1735" dirty="0"/>
          </a:p>
        </p:txBody>
      </p:sp>
      <p:sp>
        <p:nvSpPr>
          <p:cNvPr id="6" name="Text 4"/>
          <p:cNvSpPr txBox="1"/>
          <p:nvPr/>
        </p:nvSpPr>
        <p:spPr>
          <a:xfrm>
            <a:off x="42672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6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&gt;&gt; Fourier Transform can exist for -</a:t>
            </a:r>
            <a:endParaRPr lang="en-US" sz="1865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87040"/>
            <a:ext cx="5242560" cy="1950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1)  Energy signals  </a:t>
            </a:r>
            <a:r>
              <a:rPr lang="en-US" sz="1735" i="1" dirty="0">
                <a:solidFill>
                  <a:srgbClr val="7FE07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→ absolutely integrable ✓</a:t>
            </a:r>
            <a:endParaRPr lang="en-US" sz="1735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2)  Power signals  </a:t>
            </a:r>
            <a:r>
              <a:rPr lang="en-US" sz="1735" i="1" dirty="0">
                <a:solidFill>
                  <a:srgbClr val="7FE07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→ not absolutely integrable, but the FT exists by using Fourier transform properties</a:t>
            </a:r>
            <a:endParaRPr lang="en-US" sz="1735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3)  Impulse related signals  </a:t>
            </a:r>
            <a:r>
              <a:rPr lang="en-US" sz="1735" i="1" dirty="0">
                <a:solidFill>
                  <a:srgbClr val="7FE07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→ absolutely integrable</a:t>
            </a:r>
            <a:endParaRPr lang="en-US" sz="1735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998720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65" b="1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LT :-</a:t>
            </a:r>
            <a:endParaRPr lang="en-US" sz="1865" dirty="0"/>
          </a:p>
        </p:txBody>
      </p:sp>
      <p:sp>
        <p:nvSpPr>
          <p:cNvPr id="9" name="Text 7"/>
          <p:cNvSpPr txBox="1"/>
          <p:nvPr/>
        </p:nvSpPr>
        <p:spPr>
          <a:xfrm>
            <a:off x="1341120" y="4998720"/>
            <a:ext cx="4632960" cy="1341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1)  ES</a:t>
            </a:r>
            <a:endParaRPr lang="en-US" sz="1735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2)  PS</a:t>
            </a:r>
            <a:endParaRPr lang="en-US" sz="1735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3)  NENP (only up to some extent)</a:t>
            </a:r>
            <a:endParaRPr lang="en-US" sz="1735" dirty="0"/>
          </a:p>
        </p:txBody>
      </p:sp>
      <p:sp>
        <p:nvSpPr>
          <p:cNvPr id="10" name="Text 8"/>
          <p:cNvSpPr txBox="1"/>
          <p:nvPr/>
        </p:nvSpPr>
        <p:spPr>
          <a:xfrm>
            <a:off x="6339840" y="1036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&gt;&gt; Representation:</a:t>
            </a:r>
            <a:endParaRPr lang="en-US" sz="1735" dirty="0"/>
          </a:p>
        </p:txBody>
      </p:sp>
      <p:pic>
        <p:nvPicPr>
          <p:cNvPr id="11" name="Image 0" descr="re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752" y="975360"/>
            <a:ext cx="3063056" cy="41452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39840" y="1645920"/>
            <a:ext cx="560832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5" dirty="0">
                <a:solidFill>
                  <a:srgbClr val="F08C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X(ω) in rad/sec,  X(f) in Hz,  ω = 2πf</a:t>
            </a:r>
            <a:endParaRPr lang="en-US" sz="1465" dirty="0"/>
          </a:p>
        </p:txBody>
      </p:sp>
      <p:pic>
        <p:nvPicPr>
          <p:cNvPr id="13" name="Image 1" descr="pol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596" y="2097024"/>
            <a:ext cx="2480807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39840" y="2865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&gt;&gt; Formulae:</a:t>
            </a:r>
            <a:endParaRPr lang="en-US" sz="1735" dirty="0"/>
          </a:p>
        </p:txBody>
      </p:sp>
      <p:sp>
        <p:nvSpPr>
          <p:cNvPr id="15" name="Text 11"/>
          <p:cNvSpPr txBox="1"/>
          <p:nvPr/>
        </p:nvSpPr>
        <p:spPr>
          <a:xfrm>
            <a:off x="6339840" y="3413760"/>
            <a:ext cx="1219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b="1" dirty="0">
                <a:solidFill>
                  <a:srgbClr val="F08C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FT pair</a:t>
            </a:r>
            <a:endParaRPr lang="en-US" sz="1735" dirty="0"/>
          </a:p>
        </p:txBody>
      </p:sp>
      <p:sp>
        <p:nvSpPr>
          <p:cNvPr id="16" name="Text 12"/>
          <p:cNvSpPr txBox="1"/>
          <p:nvPr/>
        </p:nvSpPr>
        <p:spPr>
          <a:xfrm>
            <a:off x="7437120" y="3194304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5" dirty="0">
                <a:solidFill>
                  <a:srgbClr val="7FE07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1)  x(t) → X(jω)</a:t>
            </a:r>
            <a:endParaRPr lang="en-US" sz="1465" dirty="0"/>
          </a:p>
        </p:txBody>
      </p:sp>
      <p:pic>
        <p:nvPicPr>
          <p:cNvPr id="17" name="Image 2" descr="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0" y="3560064"/>
            <a:ext cx="2538707" cy="4389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033760" y="36576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b="1" dirty="0">
                <a:solidFill>
                  <a:srgbClr val="F08C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FT</a:t>
            </a:r>
            <a:endParaRPr lang="en-US" sz="1735" dirty="0"/>
          </a:p>
        </p:txBody>
      </p:sp>
      <p:sp>
        <p:nvSpPr>
          <p:cNvPr id="19" name="Text 14"/>
          <p:cNvSpPr txBox="1"/>
          <p:nvPr/>
        </p:nvSpPr>
        <p:spPr>
          <a:xfrm>
            <a:off x="7437120" y="42672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5" dirty="0">
                <a:solidFill>
                  <a:srgbClr val="7FE07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2)  X(jω) → x(t)</a:t>
            </a:r>
            <a:endParaRPr lang="en-US" sz="1465" dirty="0"/>
          </a:p>
        </p:txBody>
      </p:sp>
      <p:pic>
        <p:nvPicPr>
          <p:cNvPr id="20" name="Image 3" descr="if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120" y="4608576"/>
            <a:ext cx="342900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033760" y="477926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b="1" dirty="0">
                <a:solidFill>
                  <a:srgbClr val="F08C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IFT</a:t>
            </a:r>
            <a:endParaRPr lang="en-US" sz="1735" dirty="0"/>
          </a:p>
        </p:txBody>
      </p:sp>
      <p:sp>
        <p:nvSpPr>
          <p:cNvPr id="22" name="Text 16"/>
          <p:cNvSpPr txBox="1"/>
          <p:nvPr/>
        </p:nvSpPr>
        <p:spPr>
          <a:xfrm>
            <a:off x="6339840" y="5547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5" dirty="0">
                <a:solidFill>
                  <a:srgbClr val="F2F2F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&gt;&gt; Conversion of LT to FT:</a:t>
            </a:r>
            <a:endParaRPr lang="en-US" sz="1735" dirty="0"/>
          </a:p>
        </p:txBody>
      </p:sp>
      <p:sp>
        <p:nvSpPr>
          <p:cNvPr id="23" name="Text 17"/>
          <p:cNvSpPr txBox="1"/>
          <p:nvPr/>
        </p:nvSpPr>
        <p:spPr>
          <a:xfrm>
            <a:off x="7437120" y="5913120"/>
            <a:ext cx="731520" cy="48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F2F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LT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8290560" y="6156960"/>
            <a:ext cx="1950720" cy="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pic>
        <p:nvPicPr>
          <p:cNvPr id="25" name="Image 4" descr="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364" y="6217920"/>
            <a:ext cx="507111" cy="2682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424160" y="5913120"/>
            <a:ext cx="731520" cy="48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F2F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FT</a:t>
            </a:r>
            <a:endParaRPr lang="en-US" sz="2400" dirty="0"/>
          </a:p>
        </p:txBody>
      </p:sp>
      <p:sp>
        <p:nvSpPr>
          <p:cNvPr id="27" name="TextBox 2"/>
          <p:cNvSpPr txBox="1"/>
          <p:nvPr/>
        </p:nvSpPr>
        <p:spPr>
          <a:xfrm>
            <a:off x="36195" y="40132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t>01 • THE CORE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t>02 • APPLICATION IN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Finding frequencies in a communication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B1C2D5"/>
                </a:solidFill>
                <a:latin typeface="Aptos"/>
              </a:defRPr>
            </a:pPr>
            <a:r>
              <a:t>Fourier analysis shows where information is located in frequency and how much bandwidth it occupies.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3716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MODULATION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3090672" cy="8412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A message changes a carrier. In AM, sidebands appear around the carrier frequency.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3716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CHANNEL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04288"/>
            <a:ext cx="3090672" cy="8412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A band-pass filter keeps the desired radio band and rejects nearby stations or interference.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13716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BANDWIDTH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304288"/>
            <a:ext cx="3090672" cy="8412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The spectrum helps engineers avoid overlap between channels.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45720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25CFDC"/>
                </a:solidFill>
                <a:latin typeface="Aptos"/>
              </a:defRPr>
            </a:pPr>
            <a:r>
              <a:t>AM SPECTRUM EXAMPLE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" y="5166360"/>
            <a:ext cx="4572000" cy="0"/>
          </a:xfrm>
          <a:prstGeom prst="line">
            <a:avLst/>
          </a:prstGeom>
          <a:ln w="12700">
            <a:solidFill>
              <a:srgbClr val="B1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28800" y="4389120"/>
            <a:ext cx="0" cy="77724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71600" y="5257800"/>
            <a:ext cx="914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95 kHz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37560" y="3931920"/>
            <a:ext cx="0" cy="123444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80360" y="5257800"/>
            <a:ext cx="914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100 kHz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846320" y="4389120"/>
            <a:ext cx="0" cy="77724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89120" y="5257800"/>
            <a:ext cx="914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105 kHz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94760"/>
            <a:ext cx="4937760" cy="1371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For carrier fc = 100 kHz and message fm = 5 kHz:\nSidebands = fc ± fm = 95 kHz and 105 kHz.\nBandwidth = 2fm = 10 kHz.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t>03 • APPLICATION IN AUDIO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46037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Us</a:t>
            </a:r>
            <a:r>
              <a:rPr lang="en-IN"/>
              <a:t>ing the fourier transform</a:t>
            </a:r>
            <a:r>
              <a:t> to clean and shape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B1C2D5"/>
                </a:solidFill>
                <a:latin typeface="Aptos"/>
              </a:defRPr>
            </a:pPr>
            <a:r>
              <a:t>Audio contains bass, voice tones, treble and sometimes unwanted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382250" cy="13970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1649" y="2009648"/>
            <a:ext cx="3090672" cy="32194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rPr sz="1800"/>
              <a:t>NOISE REDUCTION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1061720" y="2373630"/>
            <a:ext cx="9525000" cy="6604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sz="2000"/>
              <a:t>A low-pass filter can reduce high-frequenc</a:t>
            </a:r>
            <a:r>
              <a:rPr lang="en-IN" sz="2000"/>
              <a:t>ie</a:t>
            </a:r>
            <a:r>
              <a:rPr sz="2000"/>
              <a:t>s. A narrow notch filter can target a hum tone.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t>04 • APPLICATION IN IMAGE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Images also contain spatial frequencies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B1C2D5"/>
                </a:solidFill>
                <a:latin typeface="Aptos"/>
              </a:defRPr>
            </a:pPr>
            <a:r>
              <a:t>Slow brightness changes are low spatial frequencies; fine texture and sharp edges are high spatial frequencies.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6190" y="1774190"/>
            <a:ext cx="3383280" cy="15087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9649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LOW-PASS → BLUR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649" y="2207768"/>
            <a:ext cx="3090672" cy="9784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Suppresses high spatial frequencies to smooth an image or reduce small-scale noise; fine details soften.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1995" y="1828800"/>
            <a:ext cx="3383280" cy="15087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0125" y="1938655"/>
            <a:ext cx="4007485" cy="27559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HIGH-PASS → SHARPEN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8299" y="2202053"/>
            <a:ext cx="3090672" cy="9784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Emphasizes rapid intensity changes and edges. Too much enhancement can amplify noise.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475488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25CFDC"/>
                </a:solidFill>
                <a:latin typeface="Aptos"/>
              </a:defRPr>
            </a:pPr>
            <a:r>
              <a:t>FREQUENCY-DOMAIN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1417320" cy="914400"/>
          </a:xfrm>
          <a:prstGeom prst="roundRect">
            <a:avLst/>
          </a:prstGeom>
          <a:solidFill>
            <a:srgbClr val="132A46"/>
          </a:solidFill>
          <a:ln>
            <a:solidFill>
              <a:srgbClr val="25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709160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1">
                <a:solidFill>
                  <a:srgbClr val="25CFDC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010912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900" b="0">
                <a:solidFill>
                  <a:srgbClr val="F5F8FC"/>
                </a:solidFill>
                <a:latin typeface="Aptos"/>
              </a:defRPr>
            </a:pPr>
            <a:r>
              <a:t>pixels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4572000"/>
            <a:ext cx="1417320" cy="914400"/>
          </a:xfrm>
          <a:prstGeom prst="roundRect">
            <a:avLst/>
          </a:prstGeom>
          <a:solidFill>
            <a:srgbClr val="132A46"/>
          </a:solidFill>
          <a:ln>
            <a:solidFill>
              <a:srgbClr val="25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9504" y="4709160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1">
                <a:solidFill>
                  <a:srgbClr val="25CFDC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5010912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900" b="0">
                <a:solidFill>
                  <a:srgbClr val="F5F8FC"/>
                </a:solidFill>
                <a:latin typeface="Aptos"/>
              </a:defRPr>
            </a:pPr>
            <a:r>
              <a:t>frequency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572000"/>
            <a:ext cx="1417320" cy="914400"/>
          </a:xfrm>
          <a:prstGeom prst="roundRect">
            <a:avLst/>
          </a:prstGeom>
          <a:solidFill>
            <a:srgbClr val="132A46"/>
          </a:solidFill>
          <a:ln>
            <a:solidFill>
              <a:srgbClr val="25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4709160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1">
                <a:solidFill>
                  <a:srgbClr val="25CFDC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5010912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900" b="0">
                <a:solidFill>
                  <a:srgbClr val="F5F8FC"/>
                </a:solidFill>
                <a:latin typeface="Aptos"/>
              </a:defRPr>
            </a:pPr>
            <a:r>
              <a:t>keep/remove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572000"/>
            <a:ext cx="1417320" cy="914400"/>
          </a:xfrm>
          <a:prstGeom prst="roundRect">
            <a:avLst/>
          </a:prstGeom>
          <a:solidFill>
            <a:srgbClr val="132A46"/>
          </a:solidFill>
          <a:ln>
            <a:solidFill>
              <a:srgbClr val="25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4709160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100" b="1">
                <a:solidFill>
                  <a:srgbClr val="25CFDC"/>
                </a:solidFill>
                <a:latin typeface="Aptos"/>
              </a:defRPr>
            </a:pPr>
            <a:r>
              <a:t>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5010912"/>
            <a:ext cx="130759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900" b="0">
                <a:solidFill>
                  <a:srgbClr val="F5F8FC"/>
                </a:solidFill>
                <a:latin typeface="Aptos"/>
              </a:defRPr>
            </a:pPr>
            <a:r>
              <a:t>filtered image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23160" y="5029200"/>
            <a:ext cx="320040" cy="0"/>
          </a:xfrm>
          <a:prstGeom prst="line">
            <a:avLst/>
          </a:prstGeom>
          <a:ln w="25400">
            <a:solidFill>
              <a:srgbClr val="FFB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43400" y="5029200"/>
            <a:ext cx="320040" cy="0"/>
          </a:xfrm>
          <a:prstGeom prst="line">
            <a:avLst/>
          </a:prstGeom>
          <a:ln w="25400">
            <a:solidFill>
              <a:srgbClr val="FFB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263640" y="5029200"/>
            <a:ext cx="320039" cy="0"/>
          </a:xfrm>
          <a:prstGeom prst="line">
            <a:avLst/>
          </a:prstGeom>
          <a:ln w="25400">
            <a:solidFill>
              <a:srgbClr val="FFB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95360" y="4572000"/>
            <a:ext cx="2286000" cy="10972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Apply a frequency mask, then transform back to the image domain.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t>05 •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"/>
              </a:defRPr>
            </a:pPr>
            <a:r>
              <a:t>Filters keep useful frequencies and reduce unwanted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B1C2D5"/>
                </a:solidFill>
                <a:latin typeface="Aptos"/>
              </a:defRPr>
            </a:pPr>
            <a:r>
              <a:t>In the frequency domain, filtering is represented by Y(ω) = X(ω)H(ω).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3716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LOW-PASS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3090672" cy="8412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Passes low frequencies; reduces high-frequency noise. Example: smoothing audio or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3716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HIGH-PASS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04288"/>
            <a:ext cx="3090672" cy="8412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Passes high frequencies; highlights edges or rapid changes and can remove slow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137160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BAND-PASS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304288"/>
            <a:ext cx="3090672" cy="8412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Passes only a selected range; useful for selecting a radio channel.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25CFDC"/>
                </a:solidFill>
                <a:latin typeface="Aptos"/>
              </a:defRPr>
            </a:pPr>
            <a:r>
              <a:t>IDEAL FILTER RESPONSE (SCHEMATIC)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" y="5669280"/>
            <a:ext cx="4480560" cy="0"/>
          </a:xfrm>
          <a:prstGeom prst="line">
            <a:avLst/>
          </a:prstGeom>
          <a:ln w="12700">
            <a:solidFill>
              <a:srgbClr val="B1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97280" y="4160520"/>
            <a:ext cx="0" cy="1508760"/>
          </a:xfrm>
          <a:prstGeom prst="line">
            <a:avLst/>
          </a:prstGeom>
          <a:ln w="12700">
            <a:solidFill>
              <a:srgbClr val="B1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43000" y="4434840"/>
            <a:ext cx="1828800" cy="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71800" y="4434840"/>
            <a:ext cx="0" cy="118872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88720" y="5760720"/>
            <a:ext cx="4389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B1C2D5"/>
                </a:solidFill>
                <a:latin typeface="Aptos"/>
              </a:defRPr>
            </a:pPr>
            <a:r>
              <a:t>Frequency → cutoff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31920"/>
            <a:ext cx="4754880" cy="1508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A practical filter has a transition band rather than a perfectly vertical cutoff. Choose the filter based on the useful signal band and the noise to remove.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t>06 • SPECTRUM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A spectrum reveals the frequencies inside a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B1C2D5"/>
                </a:solidFill>
                <a:latin typeface="Aptos"/>
              </a:defRPr>
            </a:pPr>
            <a:r>
              <a:t>Plot frequency on the horizontal axis and magnitude on the vertical axis; peaks indicate dominant tones or harmonics.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23444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PEAK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3090672" cy="7040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Tells you which frequency is present.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23444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PEAK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04288"/>
            <a:ext cx="3090672" cy="7040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Shows relative strength of that frequency component.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123444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93852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FFT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304288"/>
            <a:ext cx="3090672" cy="7040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Computes the Discrete Fourier Transform efficiently for sampled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466344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25CFDC"/>
                </a:solidFill>
                <a:latin typeface="Aptos"/>
              </a:defRPr>
            </a:pPr>
            <a:r>
              <a:t>SQUARE WAVE: ODD HARMONICS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" y="5394960"/>
            <a:ext cx="4572000" cy="0"/>
          </a:xfrm>
          <a:prstGeom prst="line">
            <a:avLst/>
          </a:prstGeom>
          <a:ln w="12700">
            <a:solidFill>
              <a:srgbClr val="B1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54480" y="4069080"/>
            <a:ext cx="0" cy="1325880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17320" y="5486400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4956048"/>
            <a:ext cx="0" cy="438912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40280" y="5486400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200400" y="5129784"/>
            <a:ext cx="0" cy="265176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63240" y="5486400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023360" y="5202936"/>
            <a:ext cx="0" cy="192024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86200" y="5486400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846320" y="5248656"/>
            <a:ext cx="0" cy="146304"/>
          </a:xfrm>
          <a:prstGeom prst="line">
            <a:avLst/>
          </a:prstGeom>
          <a:ln w="38100">
            <a:solidFill>
              <a:srgbClr val="25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09159" y="5486400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49039"/>
            <a:ext cx="5029200" cy="1645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An ideal square wave contains odd harmonics:\nx(t) = (4A/π)[sin(ω₀t) + ⅓sin(3ω₀t) + ⅕sin(5ω₀t) + …]\nThe amplitudes fall approximately as 1/n.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rPr smtClean="0"/>
              <a:t>0</a:t>
            </a:r>
            <a:r>
              <a:rPr lang="en-US" dirty="0" smtClean="0"/>
              <a:t>7</a:t>
            </a:r>
            <a:r>
              <a:rPr smtClean="0"/>
              <a:t> </a:t>
            </a:r>
            <a:r>
              <a:t>• SOLVED </a:t>
            </a:r>
            <a:r>
              <a:t>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"/>
              </a:defRPr>
            </a:pPr>
            <a:r>
              <a:t>AM: calculate the sidebands and bandwidth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600" b="0">
                <a:solidFill>
                  <a:srgbClr val="B1C2D5"/>
                </a:solidFill>
                <a:latin typeface="Aptos"/>
              </a:defRPr>
            </a:pPr>
            <a:r>
              <a:t>Given carrier fc = 100 kHz and message fm = 5 kHz.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F5F8FC"/>
                </a:solidFill>
                <a:latin typeface="Aptos"/>
              </a:defRPr>
            </a:pPr>
            <a:r>
              <a:t>Step 1: Multiply message and carrier: s(t)=cos(ωmt)cos(ωct).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0">
                <a:solidFill>
                  <a:srgbClr val="F5F8FC"/>
                </a:solidFill>
                <a:latin typeface="Aptos"/>
              </a:defRPr>
            </a:pPr>
            <a:r>
              <a:t>Step 2: Use cos A cos B = ½[cos(A+B)+cos(A−B)].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800" b="1">
                <a:solidFill>
                  <a:srgbClr val="25CFDC"/>
                </a:solidFill>
                <a:latin typeface="Aptos"/>
              </a:defRPr>
            </a:pPr>
            <a:r>
              <a:t>So the two components are at fc + fm and fc − fm.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Upper sideband = 100 + 5 = 105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0584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Lower sideband = 100 − 5 = 95 kHz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0584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000" b="1">
                <a:solidFill>
                  <a:srgbClr val="25CFDC"/>
                </a:solidFill>
                <a:latin typeface="Aptos"/>
              </a:defRPr>
            </a:pPr>
            <a:r>
              <a:t>Bandwidth = 105 − 95 = 10 kHz = 2fm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B1C2D5"/>
                </a:solidFill>
                <a:latin typeface="Aptos"/>
              </a:defRPr>
            </a:pPr>
            <a:r>
              <a:t>Interpretation: the message creates two sidebands around the carrier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154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25CFDC"/>
                </a:solidFill>
                <a:latin typeface="Aptos"/>
              </a:defRPr>
            </a:pPr>
            <a:r>
              <a:rPr smtClean="0"/>
              <a:t>0</a:t>
            </a:r>
            <a:r>
              <a:rPr lang="en-US" dirty="0" smtClean="0"/>
              <a:t>8</a:t>
            </a:r>
            <a:r>
              <a:rPr smtClean="0"/>
              <a:t> </a:t>
            </a:r>
            <a:r>
              <a:t>• SUMMARY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1000" b="0">
                <a:solidFill>
                  <a:srgbClr val="B1C2D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One transform, five major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0515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64207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29967"/>
            <a:ext cx="3090672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Modulation, sidebands, channel selection and bandwidth.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0515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64207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29967"/>
            <a:ext cx="3090672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Noise reduction, equalization and tone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10515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64207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IMAGE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029967"/>
            <a:ext cx="3090672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Blurring, sharpening and transform-based compression.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3383280" cy="10515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89864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264408"/>
            <a:ext cx="3090672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Keep the useful frequency band and suppress unwanted components.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788920"/>
            <a:ext cx="3383280" cy="10515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289864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SPECTRUM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264408"/>
            <a:ext cx="3090672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Find dominant frequencies and harmonics; FFT speeds digital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788920"/>
            <a:ext cx="3383280" cy="1051560"/>
          </a:xfrm>
          <a:prstGeom prst="roundRect">
            <a:avLst/>
          </a:prstGeom>
          <a:solidFill>
            <a:srgbClr val="132A46"/>
          </a:solidFill>
          <a:ln>
            <a:solidFill>
              <a:srgbClr val="2D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898648"/>
            <a:ext cx="3090672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25CFDC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3264408"/>
            <a:ext cx="3090672" cy="521207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Magnitude shows strength; phase also matters when reconstructing signals.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10515600" cy="6858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Sampling reminder: for a band-limited signal, ideal sampling requires fs &gt; 2fmax; practical systems use anti-alias filters.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B1C2D5"/>
                </a:solidFill>
                <a:latin typeface="Aptos"/>
              </a:defRPr>
            </a:pPr>
            <a:r>
              <a:t>References: Oppenheim et al., Signals and Systems; Haykin &amp; Van Veen, Signals and Systems; Gonzalez &amp; Woods, Digital Image Processing; Cooley &amp; Tukey (1965).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000" b="1">
                <a:solidFill>
                  <a:srgbClr val="25CFDC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4843</Words>
  <Application>WPS Presentation</Application>
  <PresentationFormat>Custom</PresentationFormat>
  <Paragraphs>263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Cambria</vt:lpstr>
      <vt:lpstr>Cambria</vt:lpstr>
      <vt:lpstr>Cambria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dc:description>generated using python-pptx</dc:description>
  <cp:lastModifiedBy>Admin</cp:lastModifiedBy>
  <cp:revision>7</cp:revision>
  <dcterms:created xsi:type="dcterms:W3CDTF">2013-01-27T09:14:00Z</dcterms:created>
  <dcterms:modified xsi:type="dcterms:W3CDTF">2026-10-29T08:43:15Z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2D5E56836CFF46B6892A9E82BE32BC56_12</vt:lpwstr>
  </property>
</Properties>
</file>